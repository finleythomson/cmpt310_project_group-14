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219456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36" y="-1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0" cy="3429000"/>
          </a:xfrm>
          <a:prstGeom prst="rect">
            <a:avLst/>
          </a:prstGeom>
          <a:solidFill>
            <a:srgbClr val="252A31"/>
          </a:solidFill>
          <a:ln w="12700">
            <a:solidFill>
              <a:srgbClr val="252A3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" cy="3429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4" name="Image 0" descr="Simon Fraser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024128"/>
            <a:ext cx="1892808" cy="9506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838298" y="1091428"/>
            <a:ext cx="319674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</a:t>
            </a:r>
            <a:endParaRPr lang="en-US" sz="1840" dirty="0"/>
          </a:p>
          <a:p>
            <a:pPr marL="0" indent="0" algn="l">
              <a:buNone/>
            </a:pPr>
            <a:r>
              <a:rPr lang="en-US" sz="18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SCIENCE</a:t>
            </a:r>
            <a:endParaRPr lang="en-US" sz="1840" dirty="0"/>
          </a:p>
        </p:txBody>
      </p:sp>
      <p:sp>
        <p:nvSpPr>
          <p:cNvPr id="6" name="Text 3"/>
          <p:cNvSpPr/>
          <p:nvPr/>
        </p:nvSpPr>
        <p:spPr>
          <a:xfrm>
            <a:off x="7452360" y="393192"/>
            <a:ext cx="2441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Calgary Residential Development</a:t>
            </a:r>
            <a:endParaRPr lang="en-US" sz="5400" dirty="0"/>
          </a:p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Classifier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452360" y="1965960"/>
            <a:ext cx="2441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Finley Thomson · Monem Moheq · Srinivas Suggu · Jarrod Hwang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7452360" y="2487168"/>
            <a:ext cx="2441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CMPT 310 – D100 Introduction to Artificial Intelligence, Summer 2026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452360" y="2926080"/>
            <a:ext cx="2441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3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Leakage-safe evaluation · held-out real projects · responsible-use framing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3858768"/>
            <a:ext cx="8961120" cy="3712464"/>
          </a:xfrm>
          <a:prstGeom prst="roundRect">
            <a:avLst>
              <a:gd name="adj" fmla="val 1970"/>
            </a:avLst>
          </a:prstGeom>
          <a:solidFill>
            <a:srgbClr val="FFFFFF"/>
          </a:solidFill>
          <a:ln w="12700">
            <a:solidFill>
              <a:srgbClr val="D8D1CC"/>
            </a:solidFill>
            <a:prstDash val="solid"/>
          </a:ln>
          <a:effectLst>
            <a:outerShdw blurRad="19050" dist="50800" dir="2700000" algn="bl" rotWithShape="0">
              <a:srgbClr val="888888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8"/>
          <p:cNvSpPr/>
          <p:nvPr/>
        </p:nvSpPr>
        <p:spPr>
          <a:xfrm>
            <a:off x="594360" y="3858768"/>
            <a:ext cx="8961120" cy="6217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758952" y="3950208"/>
            <a:ext cx="8631936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 &amp; Purpose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868680" y="4690872"/>
            <a:ext cx="8394192" cy="2487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8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development opportunities requires financial, neighbourhood, and accessibility evidence. We tested whether seven public pre-outcome features can classify completed Calgary projects as Low, Medium, or High ROI.</a:t>
            </a:r>
            <a:endParaRPr lang="en-US" sz="1820" dirty="0"/>
          </a:p>
          <a:p>
            <a:pPr marL="0" indent="0" algn="l">
              <a:buNone/>
            </a:pPr>
            <a:endParaRPr lang="en-US" sz="1820" dirty="0"/>
          </a:p>
          <a:p>
            <a:pPr marL="0" indent="0" algn="l">
              <a:buNone/>
            </a:pPr>
            <a:r>
              <a:rPr lang="en-US" sz="18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prototype is intended to rank candidates for deeper expert review—not replace professional due diligence or provide financial advice.</a:t>
            </a:r>
            <a:endParaRPr lang="en-US" sz="1820" dirty="0"/>
          </a:p>
        </p:txBody>
      </p:sp>
      <p:sp>
        <p:nvSpPr>
          <p:cNvPr id="14" name="Shape 11"/>
          <p:cNvSpPr/>
          <p:nvPr/>
        </p:nvSpPr>
        <p:spPr>
          <a:xfrm>
            <a:off x="594360" y="7882128"/>
            <a:ext cx="8961120" cy="4882896"/>
          </a:xfrm>
          <a:prstGeom prst="roundRect">
            <a:avLst>
              <a:gd name="adj" fmla="val 1498"/>
            </a:avLst>
          </a:prstGeom>
          <a:solidFill>
            <a:srgbClr val="FFFFFF"/>
          </a:solidFill>
          <a:ln w="12700">
            <a:solidFill>
              <a:srgbClr val="D8D1CC"/>
            </a:solidFill>
            <a:prstDash val="solid"/>
          </a:ln>
          <a:effectLst>
            <a:outerShdw blurRad="19050" dist="50800" dir="2700000" algn="bl" rotWithShape="0">
              <a:srgbClr val="888888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2"/>
          <p:cNvSpPr/>
          <p:nvPr/>
        </p:nvSpPr>
        <p:spPr>
          <a:xfrm>
            <a:off x="594360" y="7882128"/>
            <a:ext cx="8961120" cy="621792"/>
          </a:xfrm>
          <a:prstGeom prst="rect">
            <a:avLst/>
          </a:prstGeom>
          <a:solidFill>
            <a:srgbClr val="252A31"/>
          </a:solidFill>
          <a:ln w="12700">
            <a:solidFill>
              <a:srgbClr val="252A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758952" y="7973568"/>
            <a:ext cx="8631936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Target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868680" y="8686800"/>
            <a:ext cx="8366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 completed Calgary projects · completed 2018–2023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Low · 74 Medium · 75 High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914400" y="9720072"/>
            <a:ext cx="8275320" cy="1261872"/>
          </a:xfrm>
          <a:prstGeom prst="roundRect">
            <a:avLst>
              <a:gd name="adj" fmla="val 3623"/>
            </a:avLst>
          </a:prstGeom>
          <a:solidFill>
            <a:srgbClr val="F6F6F6"/>
          </a:solidFill>
          <a:ln w="12700">
            <a:solidFill>
              <a:srgbClr val="D8D1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6"/>
          <p:cNvSpPr/>
          <p:nvPr/>
        </p:nvSpPr>
        <p:spPr>
          <a:xfrm>
            <a:off x="1078992" y="9985248"/>
            <a:ext cx="7936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60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= [Final Assessment − (Initial Assessment + Project Cost)]</a:t>
            </a:r>
            <a:endParaRPr lang="en-US" sz="1760" dirty="0"/>
          </a:p>
          <a:p>
            <a:pPr marL="0" indent="0" algn="ctr">
              <a:buNone/>
            </a:pPr>
            <a:r>
              <a:rPr lang="en-US" sz="1760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÷ (Initial Assessment + Project Cost)</a:t>
            </a:r>
            <a:endParaRPr lang="en-US" sz="1760" dirty="0"/>
          </a:p>
        </p:txBody>
      </p:sp>
      <p:sp>
        <p:nvSpPr>
          <p:cNvPr id="20" name="Text 17"/>
          <p:cNvSpPr/>
          <p:nvPr/>
        </p:nvSpPr>
        <p:spPr>
          <a:xfrm>
            <a:off x="914400" y="11219688"/>
            <a:ext cx="8275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City of Calgary permits, assessments, transit, parks and schools; CMHC neighbourhood income.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594360" y="13057632"/>
            <a:ext cx="8961120" cy="7882128"/>
          </a:xfrm>
          <a:prstGeom prst="roundRect">
            <a:avLst>
              <a:gd name="adj" fmla="val 928"/>
            </a:avLst>
          </a:prstGeom>
          <a:solidFill>
            <a:srgbClr val="FFFFFF"/>
          </a:solidFill>
          <a:ln w="12700">
            <a:solidFill>
              <a:srgbClr val="D8D1CC"/>
            </a:solidFill>
            <a:prstDash val="solid"/>
          </a:ln>
          <a:effectLst>
            <a:outerShdw blurRad="19050" dist="50800" dir="2700000" algn="bl" rotWithShape="0">
              <a:srgbClr val="888888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Shape 19"/>
          <p:cNvSpPr/>
          <p:nvPr/>
        </p:nvSpPr>
        <p:spPr>
          <a:xfrm>
            <a:off x="594360" y="13057632"/>
            <a:ext cx="8961120" cy="621792"/>
          </a:xfrm>
          <a:prstGeom prst="rect">
            <a:avLst/>
          </a:prstGeom>
          <a:solidFill>
            <a:srgbClr val="252A31"/>
          </a:solidFill>
          <a:ln w="12700">
            <a:solidFill>
              <a:srgbClr val="252A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0"/>
          <p:cNvSpPr/>
          <p:nvPr/>
        </p:nvSpPr>
        <p:spPr>
          <a:xfrm>
            <a:off x="758952" y="13149072"/>
            <a:ext cx="8631936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Inputs, Methods &amp; Technologies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896112" y="13880592"/>
            <a:ext cx="8339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PRE-OUTCOME INPUTS</a:t>
            </a:r>
            <a:endParaRPr lang="en-US" sz="1550" dirty="0"/>
          </a:p>
        </p:txBody>
      </p:sp>
      <p:sp>
        <p:nvSpPr>
          <p:cNvPr id="25" name="Shape 22"/>
          <p:cNvSpPr/>
          <p:nvPr/>
        </p:nvSpPr>
        <p:spPr>
          <a:xfrm>
            <a:off x="896112" y="14374368"/>
            <a:ext cx="3977640" cy="2852928"/>
          </a:xfrm>
          <a:prstGeom prst="roundRect">
            <a:avLst>
              <a:gd name="adj" fmla="val 1603"/>
            </a:avLst>
          </a:prstGeom>
          <a:solidFill>
            <a:srgbClr val="F8E9EC"/>
          </a:solidFill>
          <a:ln w="12700">
            <a:solidFill>
              <a:srgbClr val="E4BCC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3"/>
          <p:cNvSpPr/>
          <p:nvPr/>
        </p:nvSpPr>
        <p:spPr>
          <a:xfrm>
            <a:off x="1133856" y="14602968"/>
            <a:ext cx="352044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&amp; ECONOMICS</a:t>
            </a:r>
            <a:endParaRPr lang="en-US" sz="1620" dirty="0"/>
          </a:p>
          <a:p>
            <a:pPr marL="0" indent="0" algn="l">
              <a:buNone/>
            </a:pPr>
            <a:endParaRPr lang="en-US" sz="1620" dirty="0"/>
          </a:p>
          <a:p>
            <a:pPr marL="0" indent="0" algn="l">
              <a:buNone/>
            </a:pPr>
            <a:r>
              <a:rPr lang="en-US" sz="16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Initial assessment</a:t>
            </a:r>
            <a:endParaRPr lang="en-US" sz="1620" dirty="0"/>
          </a:p>
          <a:p>
            <a:pPr marL="0" indent="0" algn="l">
              <a:buNone/>
            </a:pPr>
            <a:r>
              <a:rPr lang="en-US" sz="16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Community income</a:t>
            </a:r>
            <a:endParaRPr lang="en-US" sz="1620" dirty="0"/>
          </a:p>
          <a:p>
            <a:pPr marL="0" indent="0" algn="l">
              <a:buNone/>
            </a:pPr>
            <a:r>
              <a:rPr lang="en-US" sz="16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 per housing unit</a:t>
            </a:r>
            <a:endParaRPr lang="en-US" sz="1620" dirty="0"/>
          </a:p>
        </p:txBody>
      </p:sp>
      <p:sp>
        <p:nvSpPr>
          <p:cNvPr id="27" name="Shape 24"/>
          <p:cNvSpPr/>
          <p:nvPr/>
        </p:nvSpPr>
        <p:spPr>
          <a:xfrm>
            <a:off x="5074920" y="14374368"/>
            <a:ext cx="4160520" cy="2852928"/>
          </a:xfrm>
          <a:prstGeom prst="roundRect">
            <a:avLst>
              <a:gd name="adj" fmla="val 1603"/>
            </a:avLst>
          </a:prstGeom>
          <a:solidFill>
            <a:srgbClr val="EAF2F9"/>
          </a:solidFill>
          <a:ln w="12700">
            <a:solidFill>
              <a:srgbClr val="BBD2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5"/>
          <p:cNvSpPr/>
          <p:nvPr/>
        </p:nvSpPr>
        <p:spPr>
          <a:xfrm>
            <a:off x="5321808" y="14602968"/>
            <a:ext cx="37033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DISTANCES</a:t>
            </a:r>
            <a:endParaRPr lang="en-US" sz="1550" dirty="0"/>
          </a:p>
          <a:p>
            <a:pPr marL="0" indent="0" algn="l">
              <a:buNone/>
            </a:pP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Downtown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Nearest transit stop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Nearest park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Nearest public school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896112" y="17574768"/>
            <a:ext cx="8339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&amp; EVALUATION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932688" y="18031968"/>
            <a:ext cx="8211312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Majority-class baseline</a:t>
            </a:r>
            <a:endParaRPr lang="en-US" sz="1530" dirty="0"/>
          </a:p>
          <a:p>
            <a:pPr marL="0" indent="0" algn="l">
              <a:buNone/>
            </a:pPr>
            <a:r>
              <a:rPr lang="en-US" sz="153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scikit-learn and custom random forests</a:t>
            </a:r>
            <a:endParaRPr lang="en-US" sz="1530" dirty="0"/>
          </a:p>
          <a:p>
            <a:pPr marL="0" indent="0" algn="l">
              <a:buNone/>
            </a:pPr>
            <a:r>
              <a:rPr lang="en-US" sz="153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 trees · depth 7 · 3 candidate features</a:t>
            </a:r>
            <a:endParaRPr lang="en-US" sz="1530" dirty="0"/>
          </a:p>
          <a:p>
            <a:pPr marL="0" indent="0" algn="l">
              <a:buNone/>
            </a:pPr>
            <a:r>
              <a:rPr lang="en-US" sz="153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Stratified 5-fold CV · seed 310</a:t>
            </a:r>
            <a:endParaRPr lang="en-US" sz="1530" dirty="0"/>
          </a:p>
          <a:p>
            <a:pPr marL="0" indent="0" algn="l">
              <a:buNone/>
            </a:pPr>
            <a:r>
              <a:rPr lang="en-US" sz="153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Accuracy · macro-F1 · ordinal MAE · severe errors</a:t>
            </a:r>
            <a:endParaRPr lang="en-US" sz="1530" dirty="0"/>
          </a:p>
          <a:p>
            <a:pPr marL="0" indent="0" algn="l">
              <a:buNone/>
            </a:pPr>
            <a:endParaRPr lang="en-US" sz="1530" dirty="0"/>
          </a:p>
          <a:p>
            <a:pPr marL="0" indent="0" algn="l">
              <a:buNone/>
            </a:pPr>
            <a:r>
              <a:rPr lang="en-US" sz="153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pandas · NumPy · scikit-learn · Matplotlib</a:t>
            </a:r>
            <a:endParaRPr lang="en-US" sz="1530" dirty="0"/>
          </a:p>
        </p:txBody>
      </p:sp>
      <p:sp>
        <p:nvSpPr>
          <p:cNvPr id="31" name="Shape 28"/>
          <p:cNvSpPr/>
          <p:nvPr/>
        </p:nvSpPr>
        <p:spPr>
          <a:xfrm>
            <a:off x="9875520" y="3858768"/>
            <a:ext cx="12847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8D1CC"/>
            </a:solidFill>
            <a:prstDash val="solid"/>
          </a:ln>
          <a:effectLst>
            <a:outerShdw blurRad="19050" dist="50800" dir="2700000" algn="bl" rotWithShape="0">
              <a:srgbClr val="888888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2" name="Shape 29"/>
          <p:cNvSpPr/>
          <p:nvPr/>
        </p:nvSpPr>
        <p:spPr>
          <a:xfrm>
            <a:off x="9875520" y="3858768"/>
            <a:ext cx="12847320" cy="621792"/>
          </a:xfrm>
          <a:prstGeom prst="rect">
            <a:avLst/>
          </a:prstGeom>
          <a:solidFill>
            <a:srgbClr val="252A31"/>
          </a:solidFill>
          <a:ln w="12700">
            <a:solidFill>
              <a:srgbClr val="252A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0"/>
          <p:cNvSpPr/>
          <p:nvPr/>
        </p:nvSpPr>
        <p:spPr>
          <a:xfrm>
            <a:off x="10040112" y="3950208"/>
            <a:ext cx="12518136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Evaluation Pipeline</a:t>
            </a:r>
            <a:endParaRPr lang="en-US" sz="2500" dirty="0"/>
          </a:p>
        </p:txBody>
      </p:sp>
      <p:sp>
        <p:nvSpPr>
          <p:cNvPr id="34" name="Shape 31"/>
          <p:cNvSpPr/>
          <p:nvPr/>
        </p:nvSpPr>
        <p:spPr>
          <a:xfrm>
            <a:off x="10241280" y="4882896"/>
            <a:ext cx="2057400" cy="2103120"/>
          </a:xfrm>
          <a:prstGeom prst="roundRect">
            <a:avLst>
              <a:gd name="adj" fmla="val 2667"/>
            </a:avLst>
          </a:prstGeom>
          <a:solidFill>
            <a:srgbClr val="FAF9F8"/>
          </a:solidFill>
          <a:ln w="12700">
            <a:solidFill>
              <a:srgbClr val="D8D1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Shape 32"/>
          <p:cNvSpPr/>
          <p:nvPr/>
        </p:nvSpPr>
        <p:spPr>
          <a:xfrm>
            <a:off x="10991088" y="5029200"/>
            <a:ext cx="548640" cy="548640"/>
          </a:xfrm>
          <a:prstGeom prst="ellipse">
            <a:avLst/>
          </a:prstGeom>
          <a:solidFill>
            <a:srgbClr val="252A31"/>
          </a:solidFill>
          <a:ln w="12700">
            <a:solidFill>
              <a:srgbClr val="252A3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3"/>
          <p:cNvSpPr/>
          <p:nvPr/>
        </p:nvSpPr>
        <p:spPr>
          <a:xfrm>
            <a:off x="10991088" y="508406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0351008" y="5705856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</a:t>
            </a:r>
            <a:endParaRPr lang="en-US" sz="1700" dirty="0"/>
          </a:p>
        </p:txBody>
      </p:sp>
      <p:sp>
        <p:nvSpPr>
          <p:cNvPr id="38" name="Text 35"/>
          <p:cNvSpPr/>
          <p:nvPr/>
        </p:nvSpPr>
        <p:spPr>
          <a:xfrm>
            <a:off x="10351008" y="6126480"/>
            <a:ext cx="1837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Permits · assessments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· amenities</a:t>
            </a:r>
            <a:endParaRPr lang="en-US" sz="1280" dirty="0"/>
          </a:p>
        </p:txBody>
      </p:sp>
      <p:sp>
        <p:nvSpPr>
          <p:cNvPr id="39" name="Shape 36"/>
          <p:cNvSpPr/>
          <p:nvPr/>
        </p:nvSpPr>
        <p:spPr>
          <a:xfrm>
            <a:off x="12353544" y="5733288"/>
            <a:ext cx="256032" cy="438912"/>
          </a:xfrm>
          <a:prstGeom prst="chevron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Shape 37"/>
          <p:cNvSpPr/>
          <p:nvPr/>
        </p:nvSpPr>
        <p:spPr>
          <a:xfrm>
            <a:off x="12682728" y="4882896"/>
            <a:ext cx="2057400" cy="2103120"/>
          </a:xfrm>
          <a:prstGeom prst="roundRect">
            <a:avLst>
              <a:gd name="adj" fmla="val 2667"/>
            </a:avLst>
          </a:prstGeom>
          <a:solidFill>
            <a:srgbClr val="FAF9F8"/>
          </a:solidFill>
          <a:ln w="12700">
            <a:solidFill>
              <a:srgbClr val="D8D1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Shape 38"/>
          <p:cNvSpPr/>
          <p:nvPr/>
        </p:nvSpPr>
        <p:spPr>
          <a:xfrm>
            <a:off x="13432536" y="5029200"/>
            <a:ext cx="548640" cy="548640"/>
          </a:xfrm>
          <a:prstGeom prst="ellipse">
            <a:avLst/>
          </a:prstGeom>
          <a:solidFill>
            <a:srgbClr val="252A31"/>
          </a:solidFill>
          <a:ln w="12700">
            <a:solidFill>
              <a:srgbClr val="252A3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39"/>
          <p:cNvSpPr/>
          <p:nvPr/>
        </p:nvSpPr>
        <p:spPr>
          <a:xfrm>
            <a:off x="13432536" y="508406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2792456" y="5705856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</a:t>
            </a:r>
            <a:endParaRPr lang="en-US" sz="1700" dirty="0"/>
          </a:p>
        </p:txBody>
      </p:sp>
      <p:sp>
        <p:nvSpPr>
          <p:cNvPr id="44" name="Text 41"/>
          <p:cNvSpPr/>
          <p:nvPr/>
        </p:nvSpPr>
        <p:spPr>
          <a:xfrm>
            <a:off x="12792456" y="6126480"/>
            <a:ext cx="1837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addresses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projects</a:t>
            </a:r>
            <a:endParaRPr lang="en-US" sz="1280" dirty="0"/>
          </a:p>
        </p:txBody>
      </p:sp>
      <p:sp>
        <p:nvSpPr>
          <p:cNvPr id="45" name="Shape 42"/>
          <p:cNvSpPr/>
          <p:nvPr/>
        </p:nvSpPr>
        <p:spPr>
          <a:xfrm>
            <a:off x="14794992" y="5733288"/>
            <a:ext cx="256032" cy="438912"/>
          </a:xfrm>
          <a:prstGeom prst="chevron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Shape 43"/>
          <p:cNvSpPr/>
          <p:nvPr/>
        </p:nvSpPr>
        <p:spPr>
          <a:xfrm>
            <a:off x="15124176" y="4882896"/>
            <a:ext cx="2057400" cy="2103120"/>
          </a:xfrm>
          <a:prstGeom prst="roundRect">
            <a:avLst>
              <a:gd name="adj" fmla="val 2667"/>
            </a:avLst>
          </a:prstGeom>
          <a:solidFill>
            <a:srgbClr val="FAF9F8"/>
          </a:solidFill>
          <a:ln w="12700">
            <a:solidFill>
              <a:srgbClr val="D8D1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7" name="Shape 44"/>
          <p:cNvSpPr/>
          <p:nvPr/>
        </p:nvSpPr>
        <p:spPr>
          <a:xfrm>
            <a:off x="15873984" y="5029200"/>
            <a:ext cx="548640" cy="548640"/>
          </a:xfrm>
          <a:prstGeom prst="ellipse">
            <a:avLst/>
          </a:prstGeom>
          <a:solidFill>
            <a:srgbClr val="252A31"/>
          </a:solidFill>
          <a:ln w="12700">
            <a:solidFill>
              <a:srgbClr val="252A3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Text 45"/>
          <p:cNvSpPr/>
          <p:nvPr/>
        </p:nvSpPr>
        <p:spPr>
          <a:xfrm>
            <a:off x="15873984" y="508406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15233904" y="5705856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</a:t>
            </a:r>
            <a:endParaRPr lang="en-US" sz="1700" dirty="0"/>
          </a:p>
        </p:txBody>
      </p:sp>
      <p:sp>
        <p:nvSpPr>
          <p:cNvPr id="50" name="Text 47"/>
          <p:cNvSpPr/>
          <p:nvPr/>
        </p:nvSpPr>
        <p:spPr>
          <a:xfrm>
            <a:off x="15233904" y="6126480"/>
            <a:ext cx="1837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pre-outcome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+ ROI labels</a:t>
            </a:r>
            <a:endParaRPr lang="en-US" sz="1280" dirty="0"/>
          </a:p>
        </p:txBody>
      </p:sp>
      <p:sp>
        <p:nvSpPr>
          <p:cNvPr id="51" name="Shape 48"/>
          <p:cNvSpPr/>
          <p:nvPr/>
        </p:nvSpPr>
        <p:spPr>
          <a:xfrm>
            <a:off x="17236440" y="5733288"/>
            <a:ext cx="256032" cy="438912"/>
          </a:xfrm>
          <a:prstGeom prst="chevron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2" name="Shape 49"/>
          <p:cNvSpPr/>
          <p:nvPr/>
        </p:nvSpPr>
        <p:spPr>
          <a:xfrm>
            <a:off x="17565624" y="4882896"/>
            <a:ext cx="2057400" cy="2103120"/>
          </a:xfrm>
          <a:prstGeom prst="roundRect">
            <a:avLst>
              <a:gd name="adj" fmla="val 2667"/>
            </a:avLst>
          </a:prstGeom>
          <a:solidFill>
            <a:srgbClr val="F8E9EC"/>
          </a:solidFill>
          <a:ln w="1270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3" name="Shape 50"/>
          <p:cNvSpPr/>
          <p:nvPr/>
        </p:nvSpPr>
        <p:spPr>
          <a:xfrm>
            <a:off x="18315432" y="5029200"/>
            <a:ext cx="548640" cy="548640"/>
          </a:xfrm>
          <a:prstGeom prst="ellipse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4" name="Text 51"/>
          <p:cNvSpPr/>
          <p:nvPr/>
        </p:nvSpPr>
        <p:spPr>
          <a:xfrm>
            <a:off x="18315432" y="508406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17675352" y="5705856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700" dirty="0"/>
          </a:p>
        </p:txBody>
      </p:sp>
      <p:sp>
        <p:nvSpPr>
          <p:cNvPr id="56" name="Text 53"/>
          <p:cNvSpPr/>
          <p:nvPr/>
        </p:nvSpPr>
        <p:spPr>
          <a:xfrm>
            <a:off x="17675352" y="6126480"/>
            <a:ext cx="1837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stratified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real rows</a:t>
            </a:r>
            <a:endParaRPr lang="en-US" sz="1280" dirty="0"/>
          </a:p>
        </p:txBody>
      </p:sp>
      <p:sp>
        <p:nvSpPr>
          <p:cNvPr id="57" name="Shape 54"/>
          <p:cNvSpPr/>
          <p:nvPr/>
        </p:nvSpPr>
        <p:spPr>
          <a:xfrm>
            <a:off x="19677888" y="5733288"/>
            <a:ext cx="256032" cy="438912"/>
          </a:xfrm>
          <a:prstGeom prst="chevron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8" name="Shape 55"/>
          <p:cNvSpPr/>
          <p:nvPr/>
        </p:nvSpPr>
        <p:spPr>
          <a:xfrm>
            <a:off x="19933920" y="4846320"/>
            <a:ext cx="2057400" cy="2103120"/>
          </a:xfrm>
          <a:prstGeom prst="roundRect">
            <a:avLst>
              <a:gd name="adj" fmla="val 2667"/>
            </a:avLst>
          </a:prstGeom>
          <a:solidFill>
            <a:srgbClr val="FAF9F8"/>
          </a:solidFill>
          <a:ln w="12700">
            <a:solidFill>
              <a:srgbClr val="D8D1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9" name="Shape 56"/>
          <p:cNvSpPr/>
          <p:nvPr/>
        </p:nvSpPr>
        <p:spPr>
          <a:xfrm>
            <a:off x="20756880" y="5029200"/>
            <a:ext cx="548640" cy="548640"/>
          </a:xfrm>
          <a:prstGeom prst="ellipse">
            <a:avLst/>
          </a:prstGeom>
          <a:solidFill>
            <a:srgbClr val="252A31"/>
          </a:solidFill>
          <a:ln w="12700">
            <a:solidFill>
              <a:srgbClr val="252A3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0" name="Text 57"/>
          <p:cNvSpPr/>
          <p:nvPr/>
        </p:nvSpPr>
        <p:spPr>
          <a:xfrm>
            <a:off x="20756880" y="508406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20116800" y="5705856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700" dirty="0"/>
          </a:p>
        </p:txBody>
      </p:sp>
      <p:sp>
        <p:nvSpPr>
          <p:cNvPr id="62" name="Text 59"/>
          <p:cNvSpPr/>
          <p:nvPr/>
        </p:nvSpPr>
        <p:spPr>
          <a:xfrm>
            <a:off x="20116800" y="6126480"/>
            <a:ext cx="1837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· scikit RF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RF</a:t>
            </a:r>
            <a:endParaRPr lang="en-US" sz="1280" dirty="0"/>
          </a:p>
        </p:txBody>
      </p:sp>
      <p:sp>
        <p:nvSpPr>
          <p:cNvPr id="63" name="Shape 60"/>
          <p:cNvSpPr/>
          <p:nvPr/>
        </p:nvSpPr>
        <p:spPr>
          <a:xfrm>
            <a:off x="13377672" y="7223760"/>
            <a:ext cx="5779008" cy="621792"/>
          </a:xfrm>
          <a:prstGeom prst="roundRect">
            <a:avLst>
              <a:gd name="adj" fmla="val 5882"/>
            </a:avLst>
          </a:prstGeom>
          <a:solidFill>
            <a:srgbClr val="EAF2F9"/>
          </a:solidFill>
          <a:ln w="12700">
            <a:solidFill>
              <a:srgbClr val="2367A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4" name="Text 61"/>
          <p:cNvSpPr/>
          <p:nvPr/>
        </p:nvSpPr>
        <p:spPr>
          <a:xfrm>
            <a:off x="13533120" y="737920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236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branch: generate 3,000 synthetic rows inside each training fold only</a:t>
            </a:r>
            <a:endParaRPr lang="en-US" sz="1260" dirty="0"/>
          </a:p>
        </p:txBody>
      </p:sp>
      <p:sp>
        <p:nvSpPr>
          <p:cNvPr id="65" name="Shape 62"/>
          <p:cNvSpPr/>
          <p:nvPr/>
        </p:nvSpPr>
        <p:spPr>
          <a:xfrm>
            <a:off x="9875520" y="8997696"/>
            <a:ext cx="12847320" cy="6784848"/>
          </a:xfrm>
          <a:prstGeom prst="roundRect">
            <a:avLst>
              <a:gd name="adj" fmla="val 1078"/>
            </a:avLst>
          </a:prstGeom>
          <a:solidFill>
            <a:srgbClr val="FFFFFF"/>
          </a:solidFill>
          <a:ln w="12700">
            <a:solidFill>
              <a:srgbClr val="D8D1CC"/>
            </a:solidFill>
            <a:prstDash val="solid"/>
          </a:ln>
          <a:effectLst>
            <a:outerShdw blurRad="19050" dist="50800" dir="2700000" algn="bl" rotWithShape="0">
              <a:srgbClr val="888888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6" name="Shape 63"/>
          <p:cNvSpPr/>
          <p:nvPr/>
        </p:nvSpPr>
        <p:spPr>
          <a:xfrm>
            <a:off x="9875520" y="8997696"/>
            <a:ext cx="12847320" cy="621792"/>
          </a:xfrm>
          <a:prstGeom prst="rect">
            <a:avLst/>
          </a:prstGeom>
          <a:solidFill>
            <a:srgbClr val="252A31"/>
          </a:solidFill>
          <a:ln w="12700">
            <a:solidFill>
              <a:srgbClr val="252A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7" name="Text 64"/>
          <p:cNvSpPr/>
          <p:nvPr/>
        </p:nvSpPr>
        <p:spPr>
          <a:xfrm>
            <a:off x="10040112" y="9089136"/>
            <a:ext cx="12518136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on Held-Out Real Projects</a:t>
            </a:r>
            <a:endParaRPr lang="en-US" sz="2500" dirty="0"/>
          </a:p>
        </p:txBody>
      </p:sp>
      <p:pic>
        <p:nvPicPr>
          <p:cNvPr id="68" name="Image 1" descr="Bar chart comparing five-fold accuracy and macro-F1 across baseline and random-forest experimen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992" y="9784080"/>
            <a:ext cx="12143232" cy="5586984"/>
          </a:xfrm>
          <a:prstGeom prst="rect">
            <a:avLst/>
          </a:prstGeom>
        </p:spPr>
      </p:pic>
      <p:sp>
        <p:nvSpPr>
          <p:cNvPr id="69" name="Shape 65"/>
          <p:cNvSpPr/>
          <p:nvPr/>
        </p:nvSpPr>
        <p:spPr>
          <a:xfrm>
            <a:off x="9875520" y="16056864"/>
            <a:ext cx="12847320" cy="4882896"/>
          </a:xfrm>
          <a:prstGeom prst="roundRect">
            <a:avLst>
              <a:gd name="adj" fmla="val 1498"/>
            </a:avLst>
          </a:prstGeom>
          <a:solidFill>
            <a:srgbClr val="FFFFFF"/>
          </a:solidFill>
          <a:ln w="12700">
            <a:solidFill>
              <a:srgbClr val="D8D1CC"/>
            </a:solidFill>
            <a:prstDash val="solid"/>
          </a:ln>
          <a:effectLst>
            <a:outerShdw blurRad="19050" dist="50800" dir="2700000" algn="bl" rotWithShape="0">
              <a:srgbClr val="888888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0" name="Shape 66"/>
          <p:cNvSpPr/>
          <p:nvPr/>
        </p:nvSpPr>
        <p:spPr>
          <a:xfrm>
            <a:off x="9875520" y="16056864"/>
            <a:ext cx="12847320" cy="6217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1" name="Text 67"/>
          <p:cNvSpPr/>
          <p:nvPr/>
        </p:nvSpPr>
        <p:spPr>
          <a:xfrm>
            <a:off x="10040112" y="16148304"/>
            <a:ext cx="12518136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Conclusions, Limitations &amp; Next Steps</a:t>
            </a:r>
            <a:endParaRPr lang="en-US" sz="2500" dirty="0"/>
          </a:p>
        </p:txBody>
      </p:sp>
      <p:sp>
        <p:nvSpPr>
          <p:cNvPr id="72" name="Text 68"/>
          <p:cNvSpPr/>
          <p:nvPr/>
        </p:nvSpPr>
        <p:spPr>
          <a:xfrm>
            <a:off x="10186416" y="16870680"/>
            <a:ext cx="1221638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real-only scikit-learn forest performed best and exceeded the majority baseline.</a:t>
            </a:r>
            <a:endParaRPr lang="en-US" sz="1720" dirty="0"/>
          </a:p>
          <a:p>
            <a:pPr marL="0" indent="0" algn="l">
              <a:buNone/>
            </a:pPr>
            <a:r>
              <a:rPr lang="en-US" sz="17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Synthetic augmentation reduced performance and produced no Medium predictions.</a:t>
            </a:r>
            <a:endParaRPr lang="en-US" sz="1720" dirty="0"/>
          </a:p>
          <a:p>
            <a:pPr marL="0" indent="0" algn="l">
              <a:buNone/>
            </a:pPr>
            <a:r>
              <a:rPr lang="en-US" sz="17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accuracy was 85.0% versus 44.6% test accuracy: a 40.5-point overfit gap.</a:t>
            </a:r>
            <a:endParaRPr lang="en-US" sz="1720" dirty="0"/>
          </a:p>
          <a:p>
            <a:pPr marL="0" indent="0" algn="l">
              <a:buNone/>
            </a:pPr>
            <a:r>
              <a:rPr lang="en-US" sz="17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44 severe Low↔High errors (19.6%) make operational use unsafe.</a:t>
            </a:r>
            <a:endParaRPr lang="en-US" sz="1720" dirty="0"/>
          </a:p>
          <a:p>
            <a:pPr marL="0" indent="0" algn="l">
              <a:buNone/>
            </a:pPr>
            <a:endParaRPr lang="en-US" sz="1720" dirty="0"/>
          </a:p>
          <a:p>
            <a:pPr marL="0" indent="0" algn="l">
              <a:buNone/>
            </a:pPr>
            <a:r>
              <a:rPr lang="en-US" sz="17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audit matching/units/outliers · add more real data · nested tuning · temporal or external-city holdout · probability calibration.</a:t>
            </a:r>
            <a:endParaRPr lang="en-US" sz="1720" dirty="0"/>
          </a:p>
        </p:txBody>
      </p:sp>
      <p:sp>
        <p:nvSpPr>
          <p:cNvPr id="73" name="Shape 69"/>
          <p:cNvSpPr/>
          <p:nvPr/>
        </p:nvSpPr>
        <p:spPr>
          <a:xfrm>
            <a:off x="23042880" y="3858768"/>
            <a:ext cx="9281160" cy="4050792"/>
          </a:xfrm>
          <a:prstGeom prst="roundRect">
            <a:avLst>
              <a:gd name="adj" fmla="val 1806"/>
            </a:avLst>
          </a:prstGeom>
          <a:solidFill>
            <a:srgbClr val="FFFFFF"/>
          </a:solidFill>
          <a:ln w="12700">
            <a:solidFill>
              <a:srgbClr val="D8D1CC"/>
            </a:solidFill>
            <a:prstDash val="solid"/>
          </a:ln>
          <a:effectLst>
            <a:outerShdw blurRad="19050" dist="50800" dir="2700000" algn="bl" rotWithShape="0">
              <a:srgbClr val="888888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4" name="Shape 70"/>
          <p:cNvSpPr/>
          <p:nvPr/>
        </p:nvSpPr>
        <p:spPr>
          <a:xfrm>
            <a:off x="23042880" y="3858768"/>
            <a:ext cx="9281160" cy="6217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5" name="Text 71"/>
          <p:cNvSpPr/>
          <p:nvPr/>
        </p:nvSpPr>
        <p:spPr>
          <a:xfrm>
            <a:off x="23207472" y="3950208"/>
            <a:ext cx="8951976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</a:t>
            </a:r>
            <a:endParaRPr lang="en-US" sz="2500" dirty="0"/>
          </a:p>
        </p:txBody>
      </p:sp>
      <p:sp>
        <p:nvSpPr>
          <p:cNvPr id="76" name="Shape 72"/>
          <p:cNvSpPr/>
          <p:nvPr/>
        </p:nvSpPr>
        <p:spPr>
          <a:xfrm>
            <a:off x="23362920" y="4736592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FAF8F7"/>
          </a:solidFill>
          <a:ln w="12700">
            <a:solidFill>
              <a:srgbClr val="D8D1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7" name="Text 73"/>
          <p:cNvSpPr/>
          <p:nvPr/>
        </p:nvSpPr>
        <p:spPr>
          <a:xfrm>
            <a:off x="23436072" y="4828032"/>
            <a:ext cx="2596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44.6%</a:t>
            </a:r>
            <a:endParaRPr lang="en-US" sz="2900" dirty="0"/>
          </a:p>
        </p:txBody>
      </p:sp>
      <p:sp>
        <p:nvSpPr>
          <p:cNvPr id="78" name="Text 74"/>
          <p:cNvSpPr/>
          <p:nvPr/>
        </p:nvSpPr>
        <p:spPr>
          <a:xfrm>
            <a:off x="23454360" y="534009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· real-only RF</a:t>
            </a:r>
            <a:endParaRPr lang="en-US" sz="1150" dirty="0"/>
          </a:p>
        </p:txBody>
      </p:sp>
      <p:sp>
        <p:nvSpPr>
          <p:cNvPr id="79" name="Shape 75"/>
          <p:cNvSpPr/>
          <p:nvPr/>
        </p:nvSpPr>
        <p:spPr>
          <a:xfrm>
            <a:off x="26307288" y="4736592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FAF8F7"/>
          </a:solidFill>
          <a:ln w="12700">
            <a:solidFill>
              <a:srgbClr val="D8D1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0" name="Text 76"/>
          <p:cNvSpPr/>
          <p:nvPr/>
        </p:nvSpPr>
        <p:spPr>
          <a:xfrm>
            <a:off x="26380440" y="4828032"/>
            <a:ext cx="2596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36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44.4%</a:t>
            </a:r>
            <a:endParaRPr lang="en-US" sz="2900" dirty="0"/>
          </a:p>
        </p:txBody>
      </p:sp>
      <p:sp>
        <p:nvSpPr>
          <p:cNvPr id="81" name="Text 77"/>
          <p:cNvSpPr/>
          <p:nvPr/>
        </p:nvSpPr>
        <p:spPr>
          <a:xfrm>
            <a:off x="26398728" y="534009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· real-only RF</a:t>
            </a:r>
            <a:endParaRPr lang="en-US" sz="1150" dirty="0"/>
          </a:p>
        </p:txBody>
      </p:sp>
      <p:sp>
        <p:nvSpPr>
          <p:cNvPr id="82" name="Shape 78"/>
          <p:cNvSpPr/>
          <p:nvPr/>
        </p:nvSpPr>
        <p:spPr>
          <a:xfrm>
            <a:off x="29242512" y="4736592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FAF8F7"/>
          </a:solidFill>
          <a:ln w="12700">
            <a:solidFill>
              <a:srgbClr val="D8D1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3" name="Text 79"/>
          <p:cNvSpPr/>
          <p:nvPr/>
        </p:nvSpPr>
        <p:spPr>
          <a:xfrm>
            <a:off x="29315664" y="4828032"/>
            <a:ext cx="2596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32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+11.1 pp</a:t>
            </a:r>
            <a:endParaRPr lang="en-US" sz="2900" dirty="0"/>
          </a:p>
        </p:txBody>
      </p:sp>
      <p:sp>
        <p:nvSpPr>
          <p:cNvPr id="84" name="Text 80"/>
          <p:cNvSpPr/>
          <p:nvPr/>
        </p:nvSpPr>
        <p:spPr>
          <a:xfrm>
            <a:off x="29333952" y="534009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over baseline</a:t>
            </a:r>
            <a:endParaRPr lang="en-US" sz="1150" dirty="0"/>
          </a:p>
        </p:txBody>
      </p:sp>
      <p:sp>
        <p:nvSpPr>
          <p:cNvPr id="85" name="Text 81"/>
          <p:cNvSpPr/>
          <p:nvPr/>
        </p:nvSpPr>
        <p:spPr>
          <a:xfrm>
            <a:off x="23454360" y="6062472"/>
            <a:ext cx="8458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 uncertainty is large: ±8.5 percentage points in accuracy.</a:t>
            </a:r>
            <a:endParaRPr lang="en-US" sz="1520" dirty="0"/>
          </a:p>
        </p:txBody>
      </p:sp>
      <p:sp>
        <p:nvSpPr>
          <p:cNvPr id="86" name="Text 82"/>
          <p:cNvSpPr/>
          <p:nvPr/>
        </p:nvSpPr>
        <p:spPr>
          <a:xfrm>
            <a:off x="23454360" y="6720840"/>
            <a:ext cx="8458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tested model: scikit-learn RF trained on real projects only</a:t>
            </a:r>
            <a:endParaRPr lang="en-US" sz="1750" dirty="0"/>
          </a:p>
        </p:txBody>
      </p:sp>
      <p:sp>
        <p:nvSpPr>
          <p:cNvPr id="87" name="Shape 83"/>
          <p:cNvSpPr/>
          <p:nvPr/>
        </p:nvSpPr>
        <p:spPr>
          <a:xfrm>
            <a:off x="23042880" y="8193024"/>
            <a:ext cx="9281160" cy="7095744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8D1CC"/>
            </a:solidFill>
            <a:prstDash val="solid"/>
          </a:ln>
          <a:effectLst>
            <a:outerShdw blurRad="19050" dist="50800" dir="2700000" algn="bl" rotWithShape="0">
              <a:srgbClr val="888888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8" name="Shape 84"/>
          <p:cNvSpPr/>
          <p:nvPr/>
        </p:nvSpPr>
        <p:spPr>
          <a:xfrm>
            <a:off x="23042880" y="8193024"/>
            <a:ext cx="9281160" cy="621792"/>
          </a:xfrm>
          <a:prstGeom prst="rect">
            <a:avLst/>
          </a:prstGeom>
          <a:solidFill>
            <a:srgbClr val="252A31"/>
          </a:solidFill>
          <a:ln w="12700">
            <a:solidFill>
              <a:srgbClr val="252A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9" name="Text 85"/>
          <p:cNvSpPr/>
          <p:nvPr/>
        </p:nvSpPr>
        <p:spPr>
          <a:xfrm>
            <a:off x="23207472" y="8284464"/>
            <a:ext cx="8951976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Model: Class Recall</a:t>
            </a:r>
            <a:endParaRPr lang="en-US" sz="2500" dirty="0"/>
          </a:p>
        </p:txBody>
      </p:sp>
      <p:pic>
        <p:nvPicPr>
          <p:cNvPr id="90" name="Image 2" descr="Row-normalized confusion matrix for the selected real-only scikit-learn random fores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13312" y="8887968"/>
            <a:ext cx="6949440" cy="6373368"/>
          </a:xfrm>
          <a:prstGeom prst="rect">
            <a:avLst/>
          </a:prstGeom>
        </p:spPr>
      </p:pic>
      <p:sp>
        <p:nvSpPr>
          <p:cNvPr id="91" name="Shape 86"/>
          <p:cNvSpPr/>
          <p:nvPr/>
        </p:nvSpPr>
        <p:spPr>
          <a:xfrm>
            <a:off x="23042880" y="15563088"/>
            <a:ext cx="9281160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8D1CC"/>
            </a:solidFill>
            <a:prstDash val="solid"/>
          </a:ln>
          <a:effectLst>
            <a:outerShdw blurRad="19050" dist="50800" dir="2700000" algn="bl" rotWithShape="0">
              <a:srgbClr val="888888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2" name="Shape 87"/>
          <p:cNvSpPr/>
          <p:nvPr/>
        </p:nvSpPr>
        <p:spPr>
          <a:xfrm>
            <a:off x="23042880" y="15563088"/>
            <a:ext cx="9281160" cy="621792"/>
          </a:xfrm>
          <a:prstGeom prst="rect">
            <a:avLst/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3" name="Text 88"/>
          <p:cNvSpPr/>
          <p:nvPr/>
        </p:nvSpPr>
        <p:spPr>
          <a:xfrm>
            <a:off x="23207472" y="15654528"/>
            <a:ext cx="8951976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Data: Negative Result</a:t>
            </a:r>
            <a:endParaRPr lang="en-US" sz="2500" dirty="0"/>
          </a:p>
        </p:txBody>
      </p:sp>
      <p:sp>
        <p:nvSpPr>
          <p:cNvPr id="94" name="Text 89"/>
          <p:cNvSpPr/>
          <p:nvPr/>
        </p:nvSpPr>
        <p:spPr>
          <a:xfrm>
            <a:off x="23362920" y="16358616"/>
            <a:ext cx="8641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7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+3,000 synthetic rows/fold → 38.4% accuracy, 30.6% macro-F1, and 0% Medium recall. The generated distribution did not preserve the real decision structure.</a:t>
            </a:r>
            <a:endParaRPr lang="en-US" sz="1570" dirty="0"/>
          </a:p>
        </p:txBody>
      </p:sp>
      <p:sp>
        <p:nvSpPr>
          <p:cNvPr id="95" name="Shape 90"/>
          <p:cNvSpPr/>
          <p:nvPr/>
        </p:nvSpPr>
        <p:spPr>
          <a:xfrm>
            <a:off x="23042880" y="18196560"/>
            <a:ext cx="9281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1CC"/>
            </a:solidFill>
            <a:prstDash val="solid"/>
          </a:ln>
          <a:effectLst>
            <a:outerShdw blurRad="19050" dist="50800" dir="2700000" algn="bl" rotWithShape="0">
              <a:srgbClr val="888888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6" name="Shape 91"/>
          <p:cNvSpPr/>
          <p:nvPr/>
        </p:nvSpPr>
        <p:spPr>
          <a:xfrm>
            <a:off x="23042880" y="18196560"/>
            <a:ext cx="9281160" cy="621792"/>
          </a:xfrm>
          <a:prstGeom prst="rect">
            <a:avLst/>
          </a:prstGeom>
          <a:solidFill>
            <a:srgbClr val="252A31"/>
          </a:solidFill>
          <a:ln w="12700">
            <a:solidFill>
              <a:srgbClr val="252A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7" name="Text 92"/>
          <p:cNvSpPr/>
          <p:nvPr/>
        </p:nvSpPr>
        <p:spPr>
          <a:xfrm>
            <a:off x="23207472" y="18288000"/>
            <a:ext cx="8951976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500" dirty="0"/>
          </a:p>
        </p:txBody>
      </p:sp>
      <p:sp>
        <p:nvSpPr>
          <p:cNvPr id="98" name="Text 93"/>
          <p:cNvSpPr/>
          <p:nvPr/>
        </p:nvSpPr>
        <p:spPr>
          <a:xfrm>
            <a:off x="23335488" y="18955512"/>
            <a:ext cx="86868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City of Calgary Building Permits (c2es-76ed)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Historical Property Assessments (4ur7-wsgc)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Transit Stops (muzh-c9qc); Parks (kami-qbfh); Schools (fd9t-tdn2)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CMHC Housing Market Information Portal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scikit-learn documentation; project repository</a:t>
            </a:r>
            <a:endParaRPr lang="en-US" sz="1150" dirty="0"/>
          </a:p>
        </p:txBody>
      </p:sp>
      <p:sp>
        <p:nvSpPr>
          <p:cNvPr id="99" name="Text 94"/>
          <p:cNvSpPr/>
          <p:nvPr/>
        </p:nvSpPr>
        <p:spPr>
          <a:xfrm>
            <a:off x="594360" y="21378672"/>
            <a:ext cx="3172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proof of concept · not financial advice · evaluation uses held-out real projects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536</Words>
  <Application>Microsoft Office PowerPoint</Application>
  <PresentationFormat>Custom</PresentationFormat>
  <Paragraphs>88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Georgia</vt:lpstr>
      <vt:lpstr>Office Theme</vt:lpstr>
      <vt:lpstr>PowerPoint Presentation</vt:lpstr>
    </vt:vector>
  </TitlesOfParts>
  <Company>Simon Fraser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Calgary Residential Development ROI Classifier</dc:title>
  <dc:subject>Digital poster for CMPT 310 final project</dc:subject>
  <dc:creator>CMPT 310 Group 14</dc:creator>
  <cp:lastModifiedBy>Finley Thomson</cp:lastModifiedBy>
  <cp:revision>3</cp:revision>
  <dcterms:created xsi:type="dcterms:W3CDTF">2026-08-05T02:37:33Z</dcterms:created>
  <dcterms:modified xsi:type="dcterms:W3CDTF">2026-08-10T23:25:27Z</dcterms:modified>
</cp:coreProperties>
</file>